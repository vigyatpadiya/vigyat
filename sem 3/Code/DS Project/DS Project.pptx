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65" r:id="rId3"/>
    <p:sldId id="259" r:id="rId4"/>
    <p:sldId id="260" r:id="rId5"/>
    <p:sldId id="261" r:id="rId6"/>
    <p:sldId id="262" r:id="rId7"/>
    <p:sldId id="263" r:id="rId8"/>
    <p:sldId id="264" r:id="rId9"/>
    <p:sldId id="258" r:id="rId10"/>
  </p:sldIdLst>
  <p:sldSz cx="12192000" cy="6858000"/>
  <p:notesSz cx="6858000" cy="9144000"/>
  <p:embeddedFontLst>
    <p:embeddedFont>
      <p:font typeface="Merriweather Bold" panose="00000800000000000000" pitchFamily="2" charset="0"/>
      <p:bold r:id="rId12"/>
    </p:embeddedFont>
    <p:embeddedFont>
      <p:font typeface="Open Sans" panose="020B0606030504020204" pitchFamily="3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936C8F8E-370E-91F7-8C8E-007F68436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0DB7CEB3-EFD4-1749-60BE-BC36C51352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CC79932D-B434-0A91-8C9A-92424E36ED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0770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7C71E155-0E19-6E0B-63E9-FA12A48A9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D2E07AD2-A456-ABE0-C2D2-380C4A92D2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DF916EAD-82FF-C407-EB92-99AF35BF32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0761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973DC5F6-CC0A-CB9A-6AEF-176A4230C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4AC66C50-A9B7-150A-AF3C-CE2C8C1D08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E451925A-EF0B-928F-9990-B0B4E402E4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9656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110996A4-73C7-7C62-D98A-5C3421DBA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B9CA7231-A9CD-1E39-1E26-C2689D34B3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5BD5AE0F-F1A2-7789-3A63-CA32AD6EFA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4199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F0030A41-7E21-1117-05A0-86F27B576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7139BD87-7343-33D7-7D89-2D481BAB18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6307C831-4362-F8C1-672B-A09724CC47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1437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D6E63773-2086-62A9-ACAD-B694C1C49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97BF403A-B486-5A7F-1DCA-E364B6D0D0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CCCC7769-643B-F776-6E77-F422D84CF8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1262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F6BB2D9B-08A8-39F7-2CE6-8AEA7FE11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5F82D142-300C-3A23-19BC-031C39FA18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8F5D2C17-6B99-3409-2C14-23BEB387D7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4864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courses.lumenlearning.com/wmopen-organizationalbehavior/chapter/group-dynamics/" TargetMode="Externa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>
          <a:extLst>
            <a:ext uri="{FF2B5EF4-FFF2-40B4-BE49-F238E27FC236}">
              <a16:creationId xmlns:a16="http://schemas.microsoft.com/office/drawing/2014/main" id="{62C258C0-259E-5DE9-FE1F-5D1B28FCC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1020D0F-DF5B-FF66-0A9E-7EE5D6C51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259375"/>
              </p:ext>
            </p:extLst>
          </p:nvPr>
        </p:nvGraphicFramePr>
        <p:xfrm>
          <a:off x="627888" y="1878234"/>
          <a:ext cx="4914392" cy="360544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457196">
                  <a:extLst>
                    <a:ext uri="{9D8B030D-6E8A-4147-A177-3AD203B41FA5}">
                      <a16:colId xmlns:a16="http://schemas.microsoft.com/office/drawing/2014/main" val="2186504471"/>
                    </a:ext>
                  </a:extLst>
                </a:gridCol>
                <a:gridCol w="2457196">
                  <a:extLst>
                    <a:ext uri="{9D8B030D-6E8A-4147-A177-3AD203B41FA5}">
                      <a16:colId xmlns:a16="http://schemas.microsoft.com/office/drawing/2014/main" val="1455654943"/>
                    </a:ext>
                  </a:extLst>
                </a:gridCol>
              </a:tblGrid>
              <a:tr h="901362">
                <a:tc>
                  <a:txBody>
                    <a:bodyPr/>
                    <a:lstStyle/>
                    <a:p>
                      <a:r>
                        <a:rPr lang="en-US" sz="2400" dirty="0" err="1"/>
                        <a:t>Gr.No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Name 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265888"/>
                  </a:ext>
                </a:extLst>
              </a:tr>
              <a:tr h="901362">
                <a:tc>
                  <a:txBody>
                    <a:bodyPr/>
                    <a:lstStyle/>
                    <a:p>
                      <a:r>
                        <a:rPr lang="en-US" sz="2400" dirty="0"/>
                        <a:t>92300527222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Vigyat Padiya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435479"/>
                  </a:ext>
                </a:extLst>
              </a:tr>
              <a:tr h="901362">
                <a:tc>
                  <a:txBody>
                    <a:bodyPr/>
                    <a:lstStyle/>
                    <a:p>
                      <a:r>
                        <a:rPr lang="en-US" sz="2400" dirty="0"/>
                        <a:t>92300527203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Dhruv Makwana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888851"/>
                  </a:ext>
                </a:extLst>
              </a:tr>
              <a:tr h="901362">
                <a:tc>
                  <a:txBody>
                    <a:bodyPr/>
                    <a:lstStyle/>
                    <a:p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810575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8C237A89-152A-5BBE-51D1-1E232C601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218821"/>
            <a:ext cx="5800344" cy="659003"/>
          </a:xfrm>
        </p:spPr>
        <p:txBody>
          <a:bodyPr>
            <a:normAutofit fontScale="90000"/>
          </a:bodyPr>
          <a:lstStyle/>
          <a:p>
            <a:r>
              <a:rPr lang="en-US" dirty="0"/>
              <a:t>Group Introduction</a:t>
            </a:r>
            <a:endParaRPr lang="en-IN" dirty="0"/>
          </a:p>
        </p:txBody>
      </p:sp>
      <p:pic>
        <p:nvPicPr>
          <p:cNvPr id="7" name="Picture 6" descr="&#10;">
            <a:extLst>
              <a:ext uri="{FF2B5EF4-FFF2-40B4-BE49-F238E27FC236}">
                <a16:creationId xmlns:a16="http://schemas.microsoft.com/office/drawing/2014/main" id="{C9891527-A6D9-3CCE-51C3-06318E4CA9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873623" y="1789580"/>
            <a:ext cx="5690489" cy="379366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60209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>
          <a:extLst>
            <a:ext uri="{FF2B5EF4-FFF2-40B4-BE49-F238E27FC236}">
              <a16:creationId xmlns:a16="http://schemas.microsoft.com/office/drawing/2014/main" id="{CEBF1D63-3AF3-EDF0-96A5-498EE53AA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81DA772D-3897-1FDE-433A-CAA971B60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345" y="1267301"/>
            <a:ext cx="3316843" cy="49752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B0A4AAE2-6D9A-4CFE-C881-41A6E77CA366}"/>
              </a:ext>
            </a:extLst>
          </p:cNvPr>
          <p:cNvSpPr/>
          <p:nvPr/>
        </p:nvSpPr>
        <p:spPr>
          <a:xfrm>
            <a:off x="793790" y="1788438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Customer Service Management System</a:t>
            </a:r>
            <a:endParaRPr lang="en-US" sz="615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6C05CC57-6E21-3227-B55E-A44CC219E2EA}"/>
              </a:ext>
            </a:extLst>
          </p:cNvPr>
          <p:cNvSpPr/>
          <p:nvPr/>
        </p:nvSpPr>
        <p:spPr>
          <a:xfrm>
            <a:off x="793790" y="506325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presentation explores a C language implementation of a customer service management system that utilizes a queue data structure.</a:t>
            </a:r>
            <a:endParaRPr lang="en-US" sz="175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C1C6B19D-5CAD-9C94-9C11-F2DDF3E1B12F}"/>
              </a:ext>
            </a:extLst>
          </p:cNvPr>
          <p:cNvSpPr/>
          <p:nvPr/>
        </p:nvSpPr>
        <p:spPr>
          <a:xfrm>
            <a:off x="793790" y="606111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1D973840-5F53-ACB5-3205-ABD3FD0A6FEC}"/>
              </a:ext>
            </a:extLst>
          </p:cNvPr>
          <p:cNvSpPr/>
          <p:nvPr/>
        </p:nvSpPr>
        <p:spPr>
          <a:xfrm>
            <a:off x="1270040" y="6044208"/>
            <a:ext cx="232112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795338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>
          <a:extLst>
            <a:ext uri="{FF2B5EF4-FFF2-40B4-BE49-F238E27FC236}">
              <a16:creationId xmlns:a16="http://schemas.microsoft.com/office/drawing/2014/main" id="{AE09FB38-00AA-53E6-BDEE-7CC12D3D0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6F302A13-3375-9525-B3B9-36E89C11E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0810" y="1146504"/>
            <a:ext cx="3531156" cy="529673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0B56BFEB-F01C-DA47-74EE-60C293982812}"/>
              </a:ext>
            </a:extLst>
          </p:cNvPr>
          <p:cNvSpPr/>
          <p:nvPr/>
        </p:nvSpPr>
        <p:spPr>
          <a:xfrm>
            <a:off x="824270" y="2084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A532B54E-4BCD-1F69-61CD-35BDE43FC3BE}"/>
              </a:ext>
            </a:extLst>
          </p:cNvPr>
          <p:cNvSpPr/>
          <p:nvPr/>
        </p:nvSpPr>
        <p:spPr>
          <a:xfrm>
            <a:off x="824270" y="311949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CF83F37B-4C06-2838-DF17-EE8CC82C24CC}"/>
              </a:ext>
            </a:extLst>
          </p:cNvPr>
          <p:cNvSpPr/>
          <p:nvPr/>
        </p:nvSpPr>
        <p:spPr>
          <a:xfrm>
            <a:off x="1001435" y="3204507"/>
            <a:ext cx="15585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endParaRPr lang="en-US" sz="2650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3670967B-9F76-3B5D-69D3-6C46DB968FE1}"/>
              </a:ext>
            </a:extLst>
          </p:cNvPr>
          <p:cNvSpPr/>
          <p:nvPr/>
        </p:nvSpPr>
        <p:spPr>
          <a:xfrm>
            <a:off x="1561386" y="31194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Project Purpose</a:t>
            </a:r>
            <a:endParaRPr lang="en-US" sz="220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B05115B4-E630-C556-0992-25C8085CDCC6}"/>
              </a:ext>
            </a:extLst>
          </p:cNvPr>
          <p:cNvSpPr/>
          <p:nvPr/>
        </p:nvSpPr>
        <p:spPr>
          <a:xfrm>
            <a:off x="1561386" y="3609915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aims to simulate a customer service desk by managing customers in a first-come, first-served order.</a:t>
            </a:r>
            <a:endParaRPr lang="en-US" sz="175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849F345F-47BB-9AB2-B87E-36F4C6D31D9B}"/>
              </a:ext>
            </a:extLst>
          </p:cNvPr>
          <p:cNvSpPr/>
          <p:nvPr/>
        </p:nvSpPr>
        <p:spPr>
          <a:xfrm>
            <a:off x="4715947" y="311949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102E57A1-74A7-0184-F926-E4FB8B71B517}"/>
              </a:ext>
            </a:extLst>
          </p:cNvPr>
          <p:cNvSpPr/>
          <p:nvPr/>
        </p:nvSpPr>
        <p:spPr>
          <a:xfrm>
            <a:off x="4868108" y="3204507"/>
            <a:ext cx="20585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</a:t>
            </a:r>
            <a:endParaRPr lang="en-US" sz="265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847CB5E1-9B36-42BB-7B55-D724BC513FB8}"/>
              </a:ext>
            </a:extLst>
          </p:cNvPr>
          <p:cNvSpPr/>
          <p:nvPr/>
        </p:nvSpPr>
        <p:spPr>
          <a:xfrm>
            <a:off x="5453063" y="31194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Project Goals</a:t>
            </a:r>
            <a:endParaRPr lang="en-US" sz="22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529C12C3-ABD3-813E-47C1-0C5DB7E08380}"/>
              </a:ext>
            </a:extLst>
          </p:cNvPr>
          <p:cNvSpPr/>
          <p:nvPr/>
        </p:nvSpPr>
        <p:spPr>
          <a:xfrm>
            <a:off x="5453063" y="3609915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organize customer service efficiently, track customer wait time, and generate reports.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410780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>
          <a:extLst>
            <a:ext uri="{FF2B5EF4-FFF2-40B4-BE49-F238E27FC236}">
              <a16:creationId xmlns:a16="http://schemas.microsoft.com/office/drawing/2014/main" id="{D0281756-C45E-EE7D-3A4C-754709736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>
            <a:extLst>
              <a:ext uri="{FF2B5EF4-FFF2-40B4-BE49-F238E27FC236}">
                <a16:creationId xmlns:a16="http://schemas.microsoft.com/office/drawing/2014/main" id="{C4CE5D71-704A-998E-1A9E-1FEB7B384837}"/>
              </a:ext>
            </a:extLst>
          </p:cNvPr>
          <p:cNvSpPr/>
          <p:nvPr/>
        </p:nvSpPr>
        <p:spPr>
          <a:xfrm>
            <a:off x="582776" y="147006"/>
            <a:ext cx="65639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Queue Implementation</a:t>
            </a:r>
            <a:endParaRPr lang="en-US" sz="4450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E93A1CA4-D155-983C-EC76-D4984EDFFCC4}"/>
              </a:ext>
            </a:extLst>
          </p:cNvPr>
          <p:cNvSpPr/>
          <p:nvPr/>
        </p:nvSpPr>
        <p:spPr>
          <a:xfrm>
            <a:off x="1215818" y="29716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 Structure</a:t>
            </a:r>
            <a:endParaRPr lang="en-US" sz="2200" dirty="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2D43B10C-2DC4-F921-D8E7-FDF106DACC32}"/>
              </a:ext>
            </a:extLst>
          </p:cNvPr>
          <p:cNvSpPr/>
          <p:nvPr/>
        </p:nvSpPr>
        <p:spPr>
          <a:xfrm>
            <a:off x="1215818" y="3552798"/>
            <a:ext cx="3701525" cy="193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utilizes a queue, a linear data structure that follows a first-in, first-out (FIFO) principle. Customers are added to the rear of the queue and served from the front.</a:t>
            </a:r>
            <a:endParaRPr lang="en-US" sz="1750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28C6DD96-431F-14C2-E6D8-AF3D1D32EDB9}"/>
              </a:ext>
            </a:extLst>
          </p:cNvPr>
          <p:cNvSpPr/>
          <p:nvPr/>
        </p:nvSpPr>
        <p:spPr>
          <a:xfrm>
            <a:off x="6661678" y="29716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Functionality</a:t>
            </a:r>
            <a:endParaRPr lang="en-US" sz="22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ECCA07DF-4B7C-0AEF-3743-45F1351CABAE}"/>
              </a:ext>
            </a:extLst>
          </p:cNvPr>
          <p:cNvSpPr/>
          <p:nvPr/>
        </p:nvSpPr>
        <p:spPr>
          <a:xfrm>
            <a:off x="6661679" y="3552799"/>
            <a:ext cx="3701524" cy="2449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queue enables the system to manage the order of customers waiting for service, allowing the representative to address customers in a fair and efficient manner.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814109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>
          <a:extLst>
            <a:ext uri="{FF2B5EF4-FFF2-40B4-BE49-F238E27FC236}">
              <a16:creationId xmlns:a16="http://schemas.microsoft.com/office/drawing/2014/main" id="{624F9482-29B3-1355-490C-29D7C7A33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>
            <a:extLst>
              <a:ext uri="{FF2B5EF4-FFF2-40B4-BE49-F238E27FC236}">
                <a16:creationId xmlns:a16="http://schemas.microsoft.com/office/drawing/2014/main" id="{6635BD65-0AD2-1ACC-D465-4B82B5405E39}"/>
              </a:ext>
            </a:extLst>
          </p:cNvPr>
          <p:cNvSpPr/>
          <p:nvPr/>
        </p:nvSpPr>
        <p:spPr>
          <a:xfrm>
            <a:off x="559330" y="225952"/>
            <a:ext cx="5622124" cy="739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Functionality</a:t>
            </a:r>
            <a:endParaRPr lang="en-US" sz="4450" dirty="0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39BD85EF-1A2A-9435-57FC-E40BB725ADAA}"/>
              </a:ext>
            </a:extLst>
          </p:cNvPr>
          <p:cNvSpPr/>
          <p:nvPr/>
        </p:nvSpPr>
        <p:spPr>
          <a:xfrm>
            <a:off x="1655378" y="1601616"/>
            <a:ext cx="3818887" cy="2892337"/>
          </a:xfrm>
          <a:prstGeom prst="roundRect">
            <a:avLst>
              <a:gd name="adj" fmla="val 3435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6E4362C4-1E0A-E145-72FF-D6FB0B3CC9AF}"/>
              </a:ext>
            </a:extLst>
          </p:cNvPr>
          <p:cNvSpPr/>
          <p:nvPr/>
        </p:nvSpPr>
        <p:spPr>
          <a:xfrm>
            <a:off x="1910791" y="1836051"/>
            <a:ext cx="2954391" cy="36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Customer Enqueue</a:t>
            </a:r>
            <a:endParaRPr lang="en-US" sz="22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87C84DD9-452B-3ABF-1369-866B23506C06}"/>
              </a:ext>
            </a:extLst>
          </p:cNvPr>
          <p:cNvSpPr/>
          <p:nvPr/>
        </p:nvSpPr>
        <p:spPr>
          <a:xfrm>
            <a:off x="1901666" y="2326469"/>
            <a:ext cx="3330314" cy="1892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allows for the addition of new customers to the queue, capturing their information and placing them in the waiting line.</a:t>
            </a:r>
            <a:endParaRPr lang="en-US" sz="1750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0F25C32D-F967-ABD5-3341-853951E0F633}"/>
              </a:ext>
            </a:extLst>
          </p:cNvPr>
          <p:cNvSpPr/>
          <p:nvPr/>
        </p:nvSpPr>
        <p:spPr>
          <a:xfrm>
            <a:off x="5793943" y="1601616"/>
            <a:ext cx="3818887" cy="2892337"/>
          </a:xfrm>
          <a:prstGeom prst="roundRect">
            <a:avLst>
              <a:gd name="adj" fmla="val 3435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D288C558-5996-A1BD-764A-E307030D93A5}"/>
              </a:ext>
            </a:extLst>
          </p:cNvPr>
          <p:cNvSpPr/>
          <p:nvPr/>
        </p:nvSpPr>
        <p:spPr>
          <a:xfrm>
            <a:off x="6049356" y="1836051"/>
            <a:ext cx="2954391" cy="36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Customer Dequeue</a:t>
            </a:r>
            <a:endParaRPr lang="en-US" sz="22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7E9FE1AA-F277-8FEB-495B-7059B7FD424B}"/>
              </a:ext>
            </a:extLst>
          </p:cNvPr>
          <p:cNvSpPr/>
          <p:nvPr/>
        </p:nvSpPr>
        <p:spPr>
          <a:xfrm>
            <a:off x="6040231" y="2326469"/>
            <a:ext cx="3330314" cy="1892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enables the removal of the customer at the front of the queue, signifying that they have been served by the representative.</a:t>
            </a:r>
            <a:endParaRPr lang="en-US" sz="1750" dirty="0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9B811E52-E675-7914-2148-956AE7EC1AE4}"/>
              </a:ext>
            </a:extLst>
          </p:cNvPr>
          <p:cNvSpPr/>
          <p:nvPr/>
        </p:nvSpPr>
        <p:spPr>
          <a:xfrm>
            <a:off x="1803859" y="4602230"/>
            <a:ext cx="7873995" cy="1757104"/>
          </a:xfrm>
          <a:prstGeom prst="roundRect">
            <a:avLst>
              <a:gd name="adj" fmla="val 5654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360C21A2-EA18-C529-9D23-850279D6ABE6}"/>
              </a:ext>
            </a:extLst>
          </p:cNvPr>
          <p:cNvSpPr/>
          <p:nvPr/>
        </p:nvSpPr>
        <p:spPr>
          <a:xfrm>
            <a:off x="2157679" y="4836664"/>
            <a:ext cx="2954391" cy="36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Wait Time Tracking</a:t>
            </a:r>
            <a:endParaRPr lang="en-US" sz="22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28AC4B60-5968-6CF5-E452-9CCB96D01875}"/>
              </a:ext>
            </a:extLst>
          </p:cNvPr>
          <p:cNvSpPr/>
          <p:nvPr/>
        </p:nvSpPr>
        <p:spPr>
          <a:xfrm>
            <a:off x="2050150" y="5327082"/>
            <a:ext cx="7385422" cy="756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tracks the time each customer spends in the queue, providing valuable data for analysis and improvement.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725309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>
          <a:extLst>
            <a:ext uri="{FF2B5EF4-FFF2-40B4-BE49-F238E27FC236}">
              <a16:creationId xmlns:a16="http://schemas.microsoft.com/office/drawing/2014/main" id="{8AA37853-3254-3F73-0392-8D2A1C87D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4EE3529D-23B0-83EB-A02D-5071D3AB3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350" y="1286034"/>
            <a:ext cx="3406623" cy="510993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Text 0">
            <a:extLst>
              <a:ext uri="{FF2B5EF4-FFF2-40B4-BE49-F238E27FC236}">
                <a16:creationId xmlns:a16="http://schemas.microsoft.com/office/drawing/2014/main" id="{E91F2981-CA21-0DEE-3789-980C08A9D5A1}"/>
              </a:ext>
            </a:extLst>
          </p:cNvPr>
          <p:cNvSpPr/>
          <p:nvPr/>
        </p:nvSpPr>
        <p:spPr>
          <a:xfrm>
            <a:off x="741938" y="143923"/>
            <a:ext cx="5557480" cy="574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Challenges</a:t>
            </a:r>
            <a:endParaRPr lang="en-US" sz="4350" dirty="0"/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186447B4-C46B-3C00-CD7A-731C9F2403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62" y="1187923"/>
            <a:ext cx="918552" cy="1469685"/>
          </a:xfrm>
          <a:prstGeom prst="rect">
            <a:avLst/>
          </a:prstGeom>
        </p:spPr>
      </p:pic>
      <p:sp>
        <p:nvSpPr>
          <p:cNvPr id="16" name="Text 1">
            <a:extLst>
              <a:ext uri="{FF2B5EF4-FFF2-40B4-BE49-F238E27FC236}">
                <a16:creationId xmlns:a16="http://schemas.microsoft.com/office/drawing/2014/main" id="{7B6CD781-04CE-04FC-7CAE-72E48E809D24}"/>
              </a:ext>
            </a:extLst>
          </p:cNvPr>
          <p:cNvSpPr/>
          <p:nvPr/>
        </p:nvSpPr>
        <p:spPr>
          <a:xfrm>
            <a:off x="2131338" y="1286034"/>
            <a:ext cx="3095506" cy="287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Memory Management</a:t>
            </a:r>
            <a:endParaRPr lang="en-US" sz="215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9622556C-5C5E-A1FA-EF3C-E061625B1464}"/>
              </a:ext>
            </a:extLst>
          </p:cNvPr>
          <p:cNvSpPr/>
          <p:nvPr/>
        </p:nvSpPr>
        <p:spPr>
          <a:xfrm>
            <a:off x="2131338" y="1798273"/>
            <a:ext cx="6143268" cy="587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 memory allocation and deallocation were crucial for handling a dynamic number of customers in the queue.</a:t>
            </a:r>
            <a:endParaRPr lang="en-US" sz="1750" dirty="0"/>
          </a:p>
        </p:txBody>
      </p:sp>
      <p:pic>
        <p:nvPicPr>
          <p:cNvPr id="18" name="Image 2" descr="preencoded.png">
            <a:extLst>
              <a:ext uri="{FF2B5EF4-FFF2-40B4-BE49-F238E27FC236}">
                <a16:creationId xmlns:a16="http://schemas.microsoft.com/office/drawing/2014/main" id="{D07548DF-5E19-FDC8-0EF4-54FB964A5D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962" y="2984797"/>
            <a:ext cx="918552" cy="1646409"/>
          </a:xfrm>
          <a:prstGeom prst="rect">
            <a:avLst/>
          </a:prstGeom>
        </p:spPr>
      </p:pic>
      <p:sp>
        <p:nvSpPr>
          <p:cNvPr id="19" name="Text 3">
            <a:extLst>
              <a:ext uri="{FF2B5EF4-FFF2-40B4-BE49-F238E27FC236}">
                <a16:creationId xmlns:a16="http://schemas.microsoft.com/office/drawing/2014/main" id="{77F00D92-49D9-9EE1-9382-055B44DEA423}"/>
              </a:ext>
            </a:extLst>
          </p:cNvPr>
          <p:cNvSpPr/>
          <p:nvPr/>
        </p:nvSpPr>
        <p:spPr>
          <a:xfrm>
            <a:off x="2131338" y="3064352"/>
            <a:ext cx="2778681" cy="287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 Integrity</a:t>
            </a:r>
            <a:endParaRPr lang="en-US" sz="215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B0E67477-BC8E-876A-FCE8-1738A6A435FE}"/>
              </a:ext>
            </a:extLst>
          </p:cNvPr>
          <p:cNvSpPr/>
          <p:nvPr/>
        </p:nvSpPr>
        <p:spPr>
          <a:xfrm>
            <a:off x="2131338" y="3607453"/>
            <a:ext cx="6143268" cy="881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Ensuring that customer data was consistently stored and updated accurately was a key priority to maintain system reliability.</a:t>
            </a:r>
            <a:endParaRPr lang="en-US" sz="1750" dirty="0"/>
          </a:p>
        </p:txBody>
      </p:sp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40C0F5D5-93AD-8853-479C-065FF90D9F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962" y="4976951"/>
            <a:ext cx="918552" cy="1646409"/>
          </a:xfrm>
          <a:prstGeom prst="rect">
            <a:avLst/>
          </a:prstGeom>
        </p:spPr>
      </p:pic>
      <p:sp>
        <p:nvSpPr>
          <p:cNvPr id="22" name="Text 5">
            <a:extLst>
              <a:ext uri="{FF2B5EF4-FFF2-40B4-BE49-F238E27FC236}">
                <a16:creationId xmlns:a16="http://schemas.microsoft.com/office/drawing/2014/main" id="{3DD68CA4-1876-E4C5-F46E-CA16B784FF57}"/>
              </a:ext>
            </a:extLst>
          </p:cNvPr>
          <p:cNvSpPr/>
          <p:nvPr/>
        </p:nvSpPr>
        <p:spPr>
          <a:xfrm>
            <a:off x="2131338" y="5056505"/>
            <a:ext cx="3000256" cy="287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User Interface Design</a:t>
            </a:r>
            <a:endParaRPr lang="en-US" sz="215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917124DA-9C82-2F5D-53D2-5C55346639D6}"/>
              </a:ext>
            </a:extLst>
          </p:cNvPr>
          <p:cNvSpPr/>
          <p:nvPr/>
        </p:nvSpPr>
        <p:spPr>
          <a:xfrm>
            <a:off x="2131338" y="5599607"/>
            <a:ext cx="6143268" cy="881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Creating an intuitive and user-friendly interface was essential for simplifying system interaction for both the representative and the customer.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300310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>
          <a:extLst>
            <a:ext uri="{FF2B5EF4-FFF2-40B4-BE49-F238E27FC236}">
              <a16:creationId xmlns:a16="http://schemas.microsoft.com/office/drawing/2014/main" id="{2F31888F-010C-4B0F-693B-2602D4F18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4C8E96D-E848-F1C1-1F63-5DDA2DCBCF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252" y="1633331"/>
            <a:ext cx="2989062" cy="44835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AA63878-6166-A8F9-4F09-C2AD52DF1F48}"/>
              </a:ext>
            </a:extLst>
          </p:cNvPr>
          <p:cNvSpPr/>
          <p:nvPr/>
        </p:nvSpPr>
        <p:spPr>
          <a:xfrm>
            <a:off x="793790" y="306466"/>
            <a:ext cx="5670590" cy="708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Conclusion</a:t>
            </a:r>
            <a:endParaRPr lang="en-US" sz="4450" dirty="0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BC70E2EB-3C87-90AE-82F6-7EC5FE29A8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1844694"/>
            <a:ext cx="566976" cy="566976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99E05162-9BD3-B154-C1B5-F789D9BB564E}"/>
              </a:ext>
            </a:extLst>
          </p:cNvPr>
          <p:cNvSpPr/>
          <p:nvPr/>
        </p:nvSpPr>
        <p:spPr>
          <a:xfrm>
            <a:off x="793790" y="2638483"/>
            <a:ext cx="2835235" cy="35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Success</a:t>
            </a:r>
            <a:endParaRPr lang="en-US" sz="22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9BB642C-090D-0BEB-230F-FCF8335FD9A0}"/>
              </a:ext>
            </a:extLst>
          </p:cNvPr>
          <p:cNvSpPr/>
          <p:nvPr/>
        </p:nvSpPr>
        <p:spPr>
          <a:xfrm>
            <a:off x="793790" y="3128902"/>
            <a:ext cx="360807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project successfully implemented a customer service management system using a queue in C language, achieving the desired goals of efficient service organization and data tracking.</a:t>
            </a:r>
            <a:endParaRPr lang="en-US" sz="1750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C7D2D8BC-0907-1216-E4CC-AA0AC177C5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2021" y="1844694"/>
            <a:ext cx="566976" cy="566976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3A92E1B7-F142-99C4-C407-20CF0147086A}"/>
              </a:ext>
            </a:extLst>
          </p:cNvPr>
          <p:cNvSpPr/>
          <p:nvPr/>
        </p:nvSpPr>
        <p:spPr>
          <a:xfrm>
            <a:off x="4742021" y="2638483"/>
            <a:ext cx="3133844" cy="35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1443D20-8EAF-7999-7E0A-840569816045}"/>
              </a:ext>
            </a:extLst>
          </p:cNvPr>
          <p:cNvSpPr/>
          <p:nvPr/>
        </p:nvSpPr>
        <p:spPr>
          <a:xfrm>
            <a:off x="4742021" y="3128902"/>
            <a:ext cx="360818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Future enhancements could include adding features like priority queues for urgent cases, integrating with external databases for customer data management, or building a graphical user interface.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875205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</Words>
  <Application>Microsoft Office PowerPoint</Application>
  <PresentationFormat>Widescreen</PresentationFormat>
  <Paragraphs>40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Merriweather Bold</vt:lpstr>
      <vt:lpstr>Calibri</vt:lpstr>
      <vt:lpstr>Arial</vt:lpstr>
      <vt:lpstr>Open Sans</vt:lpstr>
      <vt:lpstr>Office Theme</vt:lpstr>
      <vt:lpstr>PowerPoint Presentation</vt:lpstr>
      <vt:lpstr>Group 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Vigyat Padiya</cp:lastModifiedBy>
  <cp:revision>1</cp:revision>
  <dcterms:modified xsi:type="dcterms:W3CDTF">2024-11-17T06:50:30Z</dcterms:modified>
</cp:coreProperties>
</file>